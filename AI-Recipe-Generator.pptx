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2" r:id="rId4"/>
    <p:sldId id="257" r:id="rId5"/>
    <p:sldId id="261" r:id="rId6"/>
    <p:sldId id="258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C5FEC-EDC7-4C9C-B6E1-DE6875119B4C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52E0-0E61-4246-9ADF-6EDC5374BF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839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52E0-0E61-4246-9ADF-6EDC5374BF0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687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D357F2-D02B-C06E-6E2B-A9930C9AF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53C937-962D-60C7-9F2C-3A03E588A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5DDA9D-39B7-3E8C-14FE-8B97F6B4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999584-6215-97D6-C992-C969730E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2CE0DB-5E51-BACE-01C5-4B6ED9EA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111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FB6CE2-0C51-437B-30E6-5CCB9618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F67606-BDA9-6400-95CF-BCF3676A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52C1964-3E15-89AD-6148-A375B3247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EE4124-A2C2-8C03-BDDA-128ABA30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F3B20D-23AC-658F-83D2-23D496CF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948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3969C5-A946-C82B-F031-DDDB0AF7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6CDB31-304E-7769-5ABD-47E09C8AC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43A19F-4FC8-E58A-D8CA-679DBF6B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EB0AB5-6F05-4148-C5BC-17707417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17410D-32E8-7D1E-F00A-AD751783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804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5127B8-97E8-7478-99D9-E5087148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C5E277-A31A-FE38-290B-396509908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33B473-E1FB-0C29-B180-2E0D44540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7108E6B-DB9A-3D91-6957-B5E86FEF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6CFD21-AC80-126A-7471-9F3CFB6F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170887B-B93A-8605-1911-56C6B377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201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AF4F87-865D-1459-B4D8-81F43B77B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A2C710-4585-7837-257E-3C371388E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488E6-A492-F17D-21C6-6F0CFDB97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019610A-B36A-F64F-447E-C081A93F8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6A91582-655B-377C-A130-0E6876FAF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E8C8B40-CD34-D6BB-6C40-9014112B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E6B4561-1AA5-2221-4ECE-2B750D3C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731B1FF-5D59-2680-C9B6-F599A4AC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39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3DF53-B8C5-53B9-5975-7BC99358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6292461-E5F1-51A3-610A-7D71B60E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452BE61-9AB8-2BDE-79B7-ECD46DF2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4BFACA6-8828-CFAA-29C7-2802DF44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76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B34621-4603-91F6-8372-A5720961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066CC84-3207-2D8B-EE8B-6655BBB8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E5595E-671A-12B1-FAA2-D46F4D97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37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D853F4-3A7C-F1E2-B589-CF079D7C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F28BCA-867A-FDB1-E5B5-26C6C7B48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EA5DCA-3ACD-C8BA-89CD-AD8704C16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BBB859-7F86-0596-BF94-35249B71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6A9CB2-CAB5-2C69-8E1F-002A1996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EC94D8B-C94C-D06E-256A-FF649DC7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430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7B1330-AE75-301D-214A-D10165AB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AC65AD5-4E07-1DBB-85E2-A5D2CC34B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77D6B1C-82DE-DE0D-F1A9-9A7B93FBD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874AD54-3353-EFEA-F5AD-58B83B15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400ADA5-8FB3-CFAE-836E-7EBD3095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314910-DCDF-58F1-8452-B1DE5104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710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69DEAF-6C00-D312-6C6C-F0C35B6C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C0B949-52C5-BB11-CB5C-0204F001F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F945FE-E60E-9691-D21D-2FA1D675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E9A824-03CF-2B13-A835-BFB9A23E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BF1093-2787-C620-CA1F-D89BDADC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376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D165A3C-EB8F-694C-4BF2-7816B2930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6373595-96D0-C718-3AC5-683968919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BEC427-877A-7B9B-B6E2-73E95C61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D6F4B7-F4B7-4C12-98AE-EB8D5A22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C88A0C-1EA2-8691-1981-3B55CB97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7884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3557F5-DBCD-52DB-0F5E-96107AB7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68A54C9-FC47-EB53-D5F4-B635C3309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4B99C1-2728-8D9A-50E4-EAAE70747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D1466-454B-4EB1-A92A-6F211C43132E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8E4534-BE9A-186F-C9CC-C1FE9A9F2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D7B813-AB61-327D-BA8F-9B86E10A6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3E248-EE3D-46E9-91A7-FA7C886CB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6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ACD6721-2DC3-0B70-1E74-19DCF4E0A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C89E322-55A4-8DDA-9E00-ACFC25CC2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586" y="1685334"/>
            <a:ext cx="6036241" cy="1743666"/>
          </a:xfrm>
        </p:spPr>
        <p:txBody>
          <a:bodyPr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AI-Recipe-Generator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D489806-600E-49CD-B20D-27A7BE824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>
            <a:normAutofit/>
          </a:bodyPr>
          <a:lstStyle/>
          <a:p>
            <a:r>
              <a:rPr lang="it-IT"/>
              <a:t>By Marco Mancini &amp; Francesco Passino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9299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A9DC614-9BF9-2FC7-5D41-24984AA0D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RecipeNLG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BF28C4D-D24B-3C1A-25DD-8C29DB237B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367794"/>
              </p:ext>
            </p:extLst>
          </p:nvPr>
        </p:nvGraphicFramePr>
        <p:xfrm>
          <a:off x="1672707" y="1926266"/>
          <a:ext cx="8846587" cy="4357529"/>
        </p:xfrm>
        <a:graphic>
          <a:graphicData uri="http://schemas.openxmlformats.org/drawingml/2006/table">
            <a:tbl>
              <a:tblPr firstRow="1" bandRow="1"/>
              <a:tblGrid>
                <a:gridCol w="1885874">
                  <a:extLst>
                    <a:ext uri="{9D8B030D-6E8A-4147-A177-3AD203B41FA5}">
                      <a16:colId xmlns:a16="http://schemas.microsoft.com/office/drawing/2014/main" val="2149371158"/>
                    </a:ext>
                  </a:extLst>
                </a:gridCol>
                <a:gridCol w="1236129">
                  <a:extLst>
                    <a:ext uri="{9D8B030D-6E8A-4147-A177-3AD203B41FA5}">
                      <a16:colId xmlns:a16="http://schemas.microsoft.com/office/drawing/2014/main" val="799375450"/>
                    </a:ext>
                  </a:extLst>
                </a:gridCol>
                <a:gridCol w="1885874">
                  <a:extLst>
                    <a:ext uri="{9D8B030D-6E8A-4147-A177-3AD203B41FA5}">
                      <a16:colId xmlns:a16="http://schemas.microsoft.com/office/drawing/2014/main" val="3024795636"/>
                    </a:ext>
                  </a:extLst>
                </a:gridCol>
                <a:gridCol w="1853740">
                  <a:extLst>
                    <a:ext uri="{9D8B030D-6E8A-4147-A177-3AD203B41FA5}">
                      <a16:colId xmlns:a16="http://schemas.microsoft.com/office/drawing/2014/main" val="2220692692"/>
                    </a:ext>
                  </a:extLst>
                </a:gridCol>
                <a:gridCol w="1984970">
                  <a:extLst>
                    <a:ext uri="{9D8B030D-6E8A-4147-A177-3AD203B41FA5}">
                      <a16:colId xmlns:a16="http://schemas.microsoft.com/office/drawing/2014/main" val="60087299"/>
                    </a:ext>
                  </a:extLst>
                </a:gridCol>
              </a:tblGrid>
              <a:tr h="36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Colonna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Tipo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Valori nulli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Duplicati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Descrizione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682551"/>
                  </a:ext>
                </a:extLst>
              </a:tr>
              <a:tr h="605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Unnamed: 0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int64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Identificatore univoco della ricetta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270332"/>
                  </a:ext>
                </a:extLst>
              </a:tr>
              <a:tr h="36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918.271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Titolo della ricetta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14342"/>
                  </a:ext>
                </a:extLst>
              </a:tr>
              <a:tr h="605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ingredients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4.780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Ingredienti con relative quantità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994578"/>
                  </a:ext>
                </a:extLst>
              </a:tr>
              <a:tr h="605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directions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19.498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Procedimento della ricetta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86205"/>
                  </a:ext>
                </a:extLst>
              </a:tr>
              <a:tr h="605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 della ricetta originale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724726"/>
                  </a:ext>
                </a:extLst>
              </a:tr>
              <a:tr h="36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2.231.140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Sito di provenienza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64244"/>
                  </a:ext>
                </a:extLst>
              </a:tr>
              <a:tr h="849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NER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97.646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Lista degli ingredienti normalizzati</a:t>
                      </a:r>
                    </a:p>
                  </a:txBody>
                  <a:tcPr marL="81995" marR="81995" marT="40997" marB="40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084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88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A4ABD8C-F565-AD5F-7536-A1CE0DC3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Qualità del dataset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2D33DF8-D074-4DA4-A3A2-20BD15BAD0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173237"/>
              </p:ext>
            </p:extLst>
          </p:nvPr>
        </p:nvGraphicFramePr>
        <p:xfrm>
          <a:off x="838200" y="2154484"/>
          <a:ext cx="10515602" cy="3901091"/>
        </p:xfrm>
        <a:graphic>
          <a:graphicData uri="http://schemas.openxmlformats.org/drawingml/2006/table">
            <a:tbl>
              <a:tblPr firstRow="1" bandRow="1"/>
              <a:tblGrid>
                <a:gridCol w="2639737">
                  <a:extLst>
                    <a:ext uri="{9D8B030D-6E8A-4147-A177-3AD203B41FA5}">
                      <a16:colId xmlns:a16="http://schemas.microsoft.com/office/drawing/2014/main" val="710346329"/>
                    </a:ext>
                  </a:extLst>
                </a:gridCol>
                <a:gridCol w="2639737">
                  <a:extLst>
                    <a:ext uri="{9D8B030D-6E8A-4147-A177-3AD203B41FA5}">
                      <a16:colId xmlns:a16="http://schemas.microsoft.com/office/drawing/2014/main" val="2325475795"/>
                    </a:ext>
                  </a:extLst>
                </a:gridCol>
                <a:gridCol w="2618064">
                  <a:extLst>
                    <a:ext uri="{9D8B030D-6E8A-4147-A177-3AD203B41FA5}">
                      <a16:colId xmlns:a16="http://schemas.microsoft.com/office/drawing/2014/main" val="735769694"/>
                    </a:ext>
                  </a:extLst>
                </a:gridCol>
                <a:gridCol w="2618064">
                  <a:extLst>
                    <a:ext uri="{9D8B030D-6E8A-4147-A177-3AD203B41FA5}">
                      <a16:colId xmlns:a16="http://schemas.microsoft.com/office/drawing/2014/main" val="3135638397"/>
                    </a:ext>
                  </a:extLst>
                </a:gridCol>
              </a:tblGrid>
              <a:tr h="115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Colonna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Valori unici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 occorrenze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occorrenze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982399"/>
                  </a:ext>
                </a:extLst>
              </a:tr>
              <a:tr h="686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1.312.870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1,70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4.099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665361"/>
                  </a:ext>
                </a:extLst>
              </a:tr>
              <a:tr h="686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ingredients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2.226.362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357768"/>
                  </a:ext>
                </a:extLst>
              </a:tr>
              <a:tr h="686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directions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2.211.644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1,01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274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855268"/>
                  </a:ext>
                </a:extLst>
              </a:tr>
              <a:tr h="686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3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NER</a:t>
                      </a:r>
                      <a:endParaRPr lang="it-IT" sz="3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2.133.496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1,05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3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</a:t>
                      </a:r>
                    </a:p>
                  </a:txBody>
                  <a:tcPr marL="156044" marR="156044" marT="78022" marB="78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109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42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037BCA6B-1CB6-C1CB-515B-D3785727C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9" r="2" b="2"/>
          <a:stretch>
            <a:fillRect/>
          </a:stretch>
        </p:blipFill>
        <p:spPr>
          <a:xfrm>
            <a:off x="1220096" y="323814"/>
            <a:ext cx="4741223" cy="3274322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CAF93F03-FE26-8819-FD4D-D85FB3C52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5" r="-2" b="-2"/>
          <a:stretch>
            <a:fillRect/>
          </a:stretch>
        </p:blipFill>
        <p:spPr>
          <a:xfrm>
            <a:off x="6000227" y="341516"/>
            <a:ext cx="4741222" cy="3238918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4E9C7600-22B2-5D5F-4345-0114DC2D50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4" r="2" b="2"/>
          <a:stretch>
            <a:fillRect/>
          </a:stretch>
        </p:blipFill>
        <p:spPr>
          <a:xfrm>
            <a:off x="1156977" y="3363701"/>
            <a:ext cx="4741223" cy="3352732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6298B99-D798-DE21-5F27-C57762861E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8" r="-1" b="-1"/>
          <a:stretch>
            <a:fillRect/>
          </a:stretch>
        </p:blipFill>
        <p:spPr>
          <a:xfrm>
            <a:off x="5898200" y="3344423"/>
            <a:ext cx="4945277" cy="351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1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D8EB96-D719-DB2F-94D3-327E86D10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 algn="ctr"/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9CFC13-EDFF-7808-252F-CD154F176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implementato con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app.py</a:t>
            </a:r>
          </a:p>
          <a:p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Api.py: implementazione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componete di machine learning che si occupa del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retreival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contiene il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dataset.parquet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le ricette normalizzate</a:t>
            </a:r>
          </a:p>
          <a:p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contiene gli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necessari al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9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9B6FBE3-A981-519D-4F3C-1B419FF0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it-IT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it-IT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SBERT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4E7868-5F99-7824-6E3B-6CE5D05F4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it-IT" sz="2200" dirty="0"/>
              <a:t>Trasformiamo le ricette in vettori (</a:t>
            </a:r>
            <a:r>
              <a:rPr lang="it-IT" sz="2200" dirty="0" err="1"/>
              <a:t>embeddings</a:t>
            </a:r>
            <a:r>
              <a:rPr lang="it-IT" sz="2200" dirty="0"/>
              <a:t>)</a:t>
            </a:r>
          </a:p>
          <a:p>
            <a:pPr marL="0" indent="0">
              <a:buNone/>
            </a:pPr>
            <a:endParaRPr lang="it-IT" sz="2200" dirty="0"/>
          </a:p>
          <a:p>
            <a:pPr marL="0" indent="0">
              <a:buNone/>
            </a:pPr>
            <a:r>
              <a:rPr lang="it-IT" sz="2200" dirty="0"/>
              <a:t>Ricette semanticamente simili saranno vicine nello spazio vettoriale</a:t>
            </a:r>
          </a:p>
          <a:p>
            <a:pPr marL="0" indent="0">
              <a:buNone/>
            </a:pPr>
            <a:endParaRPr lang="it-IT" sz="2200" dirty="0"/>
          </a:p>
          <a:p>
            <a:pPr marL="0" indent="0">
              <a:buNone/>
            </a:pPr>
            <a:r>
              <a:rPr lang="it-IT" sz="2200" dirty="0"/>
              <a:t>Modello usato: “</a:t>
            </a:r>
            <a:r>
              <a:rPr lang="it-IT" sz="2200" i="1" dirty="0"/>
              <a:t>all-MiniLM-L6-v2</a:t>
            </a:r>
            <a:r>
              <a:rPr lang="it-IT" sz="2200" dirty="0"/>
              <a:t>”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45A8414-D039-7A6E-8F03-2E259950D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277" y="528556"/>
            <a:ext cx="7388787" cy="568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8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5F46D9-88C6-23E1-4629-00408E49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FAISS</a:t>
            </a:r>
            <a:endParaRPr lang="it-IT" sz="5400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C6497F9-EF95-CC69-953F-5552A6B1C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6418" y="552091"/>
                <a:ext cx="6224335" cy="5431536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Gli ingredienti vengono normalizzati prima degli </a:t>
                </a:r>
                <a:r>
                  <a:rPr lang="it-IT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embeddings</a:t>
                </a:r>
                <a:endPara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faiss.search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() assegna ad ogni ricetta uno score di somiglianza tramite la cosine </a:t>
                </a:r>
                <a:r>
                  <a:rPr lang="it-IT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similarity</a:t>
                </a:r>
                <a:endPara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2200" dirty="0"/>
                  <a:t>			</a:t>
                </a:r>
                <a:endParaRPr lang="it-IT" sz="2200" b="0" dirty="0"/>
              </a:p>
              <a:p>
                <a:pPr marL="0" indent="0">
                  <a:buNone/>
                </a:pPr>
                <a:r>
                  <a:rPr lang="it-IT" sz="2200" dirty="0"/>
                  <a:t>	</a:t>
                </a:r>
                <a:r>
                  <a:rPr lang="it-IT" sz="2200" dirty="0" err="1"/>
                  <a:t>CosineSimilarity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it-IT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it-IT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sz="22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it-IT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it-IT" sz="220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it-IT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endParaRPr lang="it-IT" sz="2200" dirty="0"/>
              </a:p>
              <a:p>
                <a:pPr marL="0" indent="0">
                  <a:buNone/>
                </a:pPr>
                <a:endPara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 ricette vengono ordinate in base allo score e restituite le  </a:t>
                </a:r>
                <a:r>
                  <a:rPr lang="it-IT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top_k</a:t>
                </a:r>
                <a:endParaRPr lang="it-IT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C6497F9-EF95-CC69-953F-5552A6B1C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6418" y="552091"/>
                <a:ext cx="6224335" cy="5431536"/>
              </a:xfrm>
              <a:blipFill>
                <a:blip r:embed="rId3"/>
                <a:stretch>
                  <a:fillRect l="-12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51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3BAE824-2DFB-87B6-0C1B-278BEC88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</a:t>
            </a:r>
            <a:r>
              <a:rPr lang="it-IT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Recall@N</a:t>
            </a:r>
            <a:endParaRPr lang="it-IT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BD6C57-4A52-4386-508A-594267B5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200" dirty="0"/>
              <a:t>Misuriamo la capacità del modello di recuperare la ricetta corretta tra i primi N risultati forniti.</a:t>
            </a:r>
          </a:p>
          <a:p>
            <a:pPr marL="0" indent="0">
              <a:buNone/>
            </a:pPr>
            <a:endParaRPr lang="it-IT" sz="2200" dirty="0"/>
          </a:p>
          <a:p>
            <a:pPr lvl="2"/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Vengono prese ricette casuali per il test</a:t>
            </a:r>
          </a:p>
          <a:p>
            <a:pPr marL="914400" lvl="2" indent="0">
              <a:buNone/>
            </a:pP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Selezioniamo un sottoinsiemi degli ingredienti (30%, 50%, 70%)</a:t>
            </a:r>
            <a:r>
              <a:rPr lang="it-IT" sz="2200" dirty="0"/>
              <a:t>	</a:t>
            </a:r>
          </a:p>
          <a:p>
            <a:pPr lvl="2"/>
            <a:endParaRPr lang="it-IT" sz="2200" dirty="0"/>
          </a:p>
          <a:p>
            <a:pPr lvl="2"/>
            <a:r>
              <a:rPr lang="it-IT" sz="2200" dirty="0"/>
              <a:t>Verifichiamo se la ricetta cercata è tra le prime N trovate</a:t>
            </a:r>
          </a:p>
        </p:txBody>
      </p:sp>
    </p:spTree>
    <p:extLst>
      <p:ext uri="{BB962C8B-B14F-4D97-AF65-F5344CB8AC3E}">
        <p14:creationId xmlns:p14="http://schemas.microsoft.com/office/powerpoint/2010/main" val="167651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2FC099E-A577-88BE-5518-A27DBDD54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950" y="0"/>
            <a:ext cx="8852100" cy="663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610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274</Words>
  <Application>Microsoft Office PowerPoint</Application>
  <PresentationFormat>Widescreen</PresentationFormat>
  <Paragraphs>97</Paragraphs>
  <Slides>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Times New Roman</vt:lpstr>
      <vt:lpstr>Tema di Office</vt:lpstr>
      <vt:lpstr>AI-Recipe-Generator</vt:lpstr>
      <vt:lpstr>RecipeNLG</vt:lpstr>
      <vt:lpstr>Qualità del dataset</vt:lpstr>
      <vt:lpstr>Presentazione standard di PowerPoint</vt:lpstr>
      <vt:lpstr>Application  structure </vt:lpstr>
      <vt:lpstr>Information retrieval: SBERT</vt:lpstr>
      <vt:lpstr>Information retrieval: FAISS</vt:lpstr>
      <vt:lpstr>Evaluation: Recall@N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Passino</dc:creator>
  <cp:lastModifiedBy>Francesco Passino</cp:lastModifiedBy>
  <cp:revision>2</cp:revision>
  <dcterms:created xsi:type="dcterms:W3CDTF">2026-07-21T15:10:28Z</dcterms:created>
  <dcterms:modified xsi:type="dcterms:W3CDTF">2026-07-21T20:56:10Z</dcterms:modified>
</cp:coreProperties>
</file>